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v1 (0.5/99.5+기온하한)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Sheet1!$A$2:$A$5</c:f>
              <c:strCache>
                <c:ptCount val="4"/>
                <c:pt idx="0">
                  <c:v>8월 SM01</c:v>
                </c:pt>
                <c:pt idx="1">
                  <c:v>8월 SM05</c:v>
                </c:pt>
                <c:pt idx="2">
                  <c:v>9월 SM01</c:v>
                </c:pt>
                <c:pt idx="3">
                  <c:v>11월 SM01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</c:v>
                </c:pt>
                <c:pt idx="1">
                  <c:v>0.189</c:v>
                </c:pt>
                <c:pt idx="2">
                  <c:v>0.115</c:v>
                </c:pt>
                <c:pt idx="3">
                  <c:v>0.407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 (5/95 백분위)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Sheet1!$A$2:$A$5</c:f>
              <c:strCache>
                <c:ptCount val="4"/>
                <c:pt idx="0">
                  <c:v>8월 SM01</c:v>
                </c:pt>
                <c:pt idx="1">
                  <c:v>8월 SM05</c:v>
                </c:pt>
                <c:pt idx="2">
                  <c:v>9월 SM01</c:v>
                </c:pt>
                <c:pt idx="3">
                  <c:v>11월 SM01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0.278</c:v>
                </c:pt>
                <c:pt idx="1">
                  <c:v>0.374</c:v>
                </c:pt>
                <c:pt idx="2">
                  <c:v>0.472</c:v>
                </c:pt>
                <c:pt idx="3">
                  <c:v>0.52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algun Gothic"/>
              </a:defRPr>
            </a:pPr>
          </a:p>
        </c:txPr>
        <c:crossAx val="-2068027336"/>
        <c:crosses val="autoZero"/>
        <c:majorUnit val="0.2"/>
      </c:valAx>
    </c:plotArea>
    <c:legend>
      <c:legendPos val="b"/>
      <c:overlay val="0"/>
      <c:txPr>
        <a:bodyPr/>
        <a:lstStyle/>
        <a:p>
          <a:pPr>
            <a:defRPr sz="1000">
              <a:latin typeface="Malgun 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회차 평균 CWSI</c:v>
                </c:pt>
              </c:strCache>
            </c:strRef>
          </c:tx>
          <c:spPr>
            <a:solidFill>
              <a:srgbClr val="002060"/>
            </a:solidFill>
          </c:spPr>
          <c:cat>
            <c:strRef>
              <c:f>Sheet1!$A$2:$A$7</c:f>
              <c:strCache>
                <c:ptCount val="6"/>
                <c:pt idx="0">
                  <c:v>25-08-18</c:v>
                </c:pt>
                <c:pt idx="1">
                  <c:v>25-09-22</c:v>
                </c:pt>
                <c:pt idx="2">
                  <c:v>25-11-12</c:v>
                </c:pt>
                <c:pt idx="3">
                  <c:v>26-07-07</c:v>
                </c:pt>
                <c:pt idx="4">
                  <c:v>26-07-15</c:v>
                </c:pt>
                <c:pt idx="5">
                  <c:v>26-08-14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0.349</c:v>
                </c:pt>
                <c:pt idx="1">
                  <c:v>0.51</c:v>
                </c:pt>
                <c:pt idx="2">
                  <c:v>0.5</c:v>
                </c:pt>
                <c:pt idx="3">
                  <c:v>0.528</c:v>
                </c:pt>
                <c:pt idx="4">
                  <c:v>0.402</c:v>
                </c:pt>
                <c:pt idx="5">
                  <c:v>0.468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50">
                  <a:latin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latin typeface="Malgun Gothi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6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algun Gothic"/>
              </a:defRPr>
            </a:pPr>
          </a:p>
        </c:txPr>
        <c:crossAx val="-2068027336"/>
        <c:crosses val="autoZero"/>
        <c:majorUnit val="0.2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대동 표지 양식: 진회색 밴드 + 레드/실버 대각선 스트라이프. 근거 문서: 종합검토보고서_CWSI_v2.md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 규모/회차/사양. 하단 종합 바: 입력 3종 → 산출 3종 흐름.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용어: CWSI는 '건조 기준온도'와 '습윤 기준온도' 사이에서 작물 온도의 위치를 0~1로 나타내는 지수 — 따라서 각 논문의 차이는 결국 이 두 기준온도를 어떻게 정하느냐임. NWSB=물을 충분히 준 작물의 온도를 대기 건조도(VPD, 기온·습도로 계산)로 예측하는 회귀식. NRCT=포장 내 최저/최고 온도로 정규화한 간이 열지수. Otsu/Jenks=식생과 토양을 나누는 경계값을 자동으로 찾는 알고리즘. VPD=수증기압차(공기가 얼마나 건조한지). 상세: 참고논문_요약집.md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채택 기준: 현 데이터(GNDVI·LWIR·RGB + 일 기온)만으로 재현 가능하고 실측 검증이 있는 방법. 기상·현장작업이 필요한 방법은 기각 또는 로드맵 이관.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6단계 2열 구성 + 우측 KPI 레일 + 하단 종합 바 (대동 밀도 원칙).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포인트: ① 첫 패널 RGB에서 필지가 전면 갈색(수확 후) = 육안으로 녹색 작물이 거의 없음이 정답 기준. ② 그런데 GNDVI-Otsu는 70%를 식생으로 판정(오답), ExG-Otsu는 11%만 판정(정답) — GNDVI는 갈변 잎·잔사에서도 값이 높게 유지되기 때문. ③ IoU(교집합/합집합)는 두 마스크의 겹침 비율: 11월 0.11 = 서로 다른 땅을 보고 있었다는 뜻(바꿔야 할 이유), 8월 0.84~0.86 = 생육기엔 동일(바꿔도 되는 이유). 근거: 나상일 외 2020(ExG), Liu 2024(지수+Otsu 구조).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차트: 동일 장면 4개의 v1/v2 평균 CWSI. 회색=v1, 네이비=v2.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QC는 값을 바꾸지 않고 경고만 기록. 서비스에서는 qc 열 게이트를 코드로 강제 권장.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9월 평균이 높아 보이는 것은 온도대비 부족 장면의 중간값 수렴 현상(QC로 걸러짐).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이랑 사이 흰 줄이 살아난 것이 ExG 마스크 효과. 정보 손실이 아니라 오염 제거.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절대값 처방 보류는 로직 결함이 아니라 작물·지역 캘리브레이션 데이터 부재 때문.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함수명이 곧 파이프라인 단계. 특정 단계만 교체(예: 마스킹 알고리즘)하려면 해당 함수만 수정하면 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실코드는 compute_exg_on_grid(밴드 누적 재투영)와 build_vegetation_mask(임계·폴백) 두 함수. 마스킹 알고리즘 교체 시 이 두 함수만 수정.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실코드는 calculate_cwsi 함수 하나. NWSB(기상 기반 기준선) 도입 시 이 함수에 BASELINE_MODE 분기만 추가하면 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개발사 인수용 핵심 스펙. 상세: 종합검토보고서_CWSI_v2.md, 폴더 내 memory.md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상세 문서: 플랫폼연동_고도화로드맵.md. Phase 1은 즉시 착수 가능(기상 불필요). Phase 3이 서비스 도약 지점 — 필지 간 절대 비교·절대 임계 판정 가능화. 새만금 간이기상대는 이미 설치되어 있어 Phase 2 선행조건 충족.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2743200" y="804672"/>
            <a:ext cx="10972800" cy="2670048"/>
          </a:xfrm>
          <a:prstGeom prst="parallelogram">
            <a:avLst>
              <a:gd name="adj" fmla="val 71917"/>
            </a:avLst>
          </a:prstGeom>
          <a:solidFill>
            <a:srgbClr val="5757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6419088" y="804672"/>
            <a:ext cx="2331720" cy="2670048"/>
          </a:xfrm>
          <a:prstGeom prst="parallelogram">
            <a:avLst>
              <a:gd name="adj" fmla="val 82352"/>
            </a:avLst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31152" y="804672"/>
            <a:ext cx="2331720" cy="2670048"/>
          </a:xfrm>
          <a:prstGeom prst="parallelogram">
            <a:avLst>
              <a:gd name="adj" fmla="val 82352"/>
            </a:avLst>
          </a:prstGeom>
          <a:solidFill>
            <a:srgbClr val="D9D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FFFFFF"/>
                </a:solidFill>
                <a:latin typeface="Malgun Gothic"/>
                <a:ea typeface="맑은 고딕"/>
              </a:rPr>
              <a:t>드론 열화상 기반 CWSI 분석</a:t>
            </a:r>
          </a:p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FFFFFF"/>
                </a:solidFill>
                <a:latin typeface="Malgun Gothic"/>
                <a:ea typeface="맑은 고딕"/>
              </a:rPr>
              <a:t>로직 검증 결과 및 기술 이관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4069080"/>
            <a:ext cx="6400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000000"/>
                </a:solidFill>
                <a:latin typeface="Malgun Gothic"/>
                <a:ea typeface="맑은 고딕"/>
              </a:rPr>
              <a:t>2026. 09.</a:t>
            </a:r>
          </a:p>
          <a:p>
            <a:pPr algn="l"/>
            <a:r>
              <a:rPr sz="1400" b="1" i="0">
                <a:solidFill>
                  <a:srgbClr val="000000"/>
                </a:solidFill>
                <a:latin typeface="Malgun Gothic"/>
                <a:ea typeface="맑은 고딕"/>
              </a:rPr>
              <a:t>대동 애그테크 개발팀 전달용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507492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Malgun Gothic"/>
                <a:ea typeface="맑은 고딕"/>
              </a:rPr>
              <a:t>새만금 논콩 24필지 · 84 영상쌍(’25~’26, 6회차) · 참고논문 8편 기반 로직 업그레이드 · 전량 검증 완료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355080"/>
            <a:ext cx="1234440" cy="2313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Malgun Gothic"/>
                <a:ea typeface="맑은 고딕"/>
              </a:rPr>
              <a:t>목 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42655" y="31089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76656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34440" y="1005840"/>
            <a:ext cx="384048" cy="5120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078992"/>
            <a:ext cx="7680960" cy="5212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1. 분석 개요 및 데이터셋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2. 참고논문 8편 방법론 검토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3. 처리 파이프라인 (cwsi_index.py)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4. 로직 개선 ① — ExG 식생 분리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5. 로직 개선 ② — 기준온도 5/95 백분위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6. 자동 품질검사(QC) 체계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7. 전체 84쌍 처리 결과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8. 결과 맵 비교 (v1 vs v2)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9. 상용 활용성 판정 및 운영 표준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10. 전달 코드 구성 — 함수 맵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11. 코드 로직 상세 ① — ExG 식생 마스킹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12. 코드 로직 상세 ② — 기준온도·CWSI·QC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13. 개발 통합 정보 (인수 스펙)</a:t>
            </a:r>
          </a:p>
          <a:p>
            <a:pPr algn="l">
              <a:spcAft>
                <a:spcPts val="850"/>
              </a:spcAft>
            </a:pPr>
            <a:r>
              <a:rPr sz="1250" b="1" i="0">
                <a:solidFill>
                  <a:srgbClr val="000000"/>
                </a:solidFill>
                <a:latin typeface="Malgun Gothic"/>
                <a:ea typeface="맑은 고딕"/>
              </a:rPr>
              <a:t>14. 플랫폼 연동 및 고도화 로드맵</a:t>
            </a:r>
          </a:p>
        </p:txBody>
      </p:sp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1. 분석 개요 및 데이터셋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새만금 논콩 24필지 84 영상쌍(’25~’26, 6회차) 대상 CWSI 산출 로직을 참고논문 8편 기반으로 업그레이드하고 전량 검증을 완료함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379476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794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데이터 규모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01368"/>
            <a:ext cx="1856231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892807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2060"/>
                </a:solidFill>
                <a:latin typeface="Malgun Gothic"/>
                <a:ea typeface="맑은 고딕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377440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분석 필지 (SM01~24)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50008" y="1801368"/>
            <a:ext cx="1856231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1892807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2060"/>
                </a:solidFill>
                <a:latin typeface="Malgun Gothic"/>
                <a:ea typeface="맑은 고딕"/>
              </a:rPr>
              <a:t>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8024" y="2377440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영상쌍 ×3센서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88920"/>
            <a:ext cx="1856231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288036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2060"/>
                </a:solidFill>
                <a:latin typeface="Malgun Gothic"/>
                <a:ea typeface="맑은 고딕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3364991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촬영 회차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50008" y="2788920"/>
            <a:ext cx="1856231" cy="914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78024" y="288036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2060"/>
                </a:solidFill>
                <a:latin typeface="Malgun Gothic"/>
                <a:ea typeface="맑은 고딕"/>
              </a:rPr>
              <a:t>2cm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8024" y="3364991"/>
            <a:ext cx="1645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GSD (풀해상도)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04488"/>
            <a:ext cx="379476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904488"/>
            <a:ext cx="3794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촬영 회차 구성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325112"/>
            <a:ext cx="3611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1" i="0">
                <a:solidFill>
                  <a:srgbClr val="000000"/>
                </a:solidFill>
                <a:latin typeface="Malgun Gothic"/>
                <a:ea typeface="맑은 고딕"/>
              </a:rPr>
              <a:t>’25 : 8/18 · 9/22 · 11/12 (SM01~12)</a:t>
            </a:r>
          </a:p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1" i="0">
                <a:solidFill>
                  <a:srgbClr val="000000"/>
                </a:solidFill>
                <a:latin typeface="Malgun Gothic"/>
                <a:ea typeface="맑은 고딕"/>
              </a:rPr>
              <a:t>’26 : 7/7 (SM13~24) · 7/15 (SM01~12)</a:t>
            </a:r>
          </a:p>
          <a:p>
            <a:pPr algn="l">
              <a:spcAft>
                <a:spcPts val="600"/>
              </a:spcAft>
            </a:pPr>
            <a:r>
              <a:rPr sz="1050" b="1" i="0">
                <a:solidFill>
                  <a:srgbClr val="000000"/>
                </a:solidFill>
                <a:latin typeface="Malgun Gothic"/>
                <a:ea typeface="맑은 고딕"/>
              </a:rPr>
              <a:t>  </a:t>
            </a:r>
            <a:r>
              <a:rPr sz="1050" b="1" i="0">
                <a:solidFill>
                  <a:srgbClr val="000000"/>
                </a:solidFill>
                <a:latin typeface="Malgun Gothic"/>
                <a:ea typeface="맑은 고딕"/>
              </a:rPr>
              <a:t>8/14 (전체 24필지)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• </a:t>
            </a:r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기온: temp_data.csv (촬영일별, ΔT용)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0" y="1417320"/>
            <a:ext cx="510509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417320"/>
            <a:ext cx="51050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입력 데이터 사양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389120" y="1801368"/>
          <a:ext cx="5102352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3502152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구분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사양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GNDVI (index_data/)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단일밴드 float32, 식생지수 −1~1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LWIR (thermal_data/)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단일밴드 float32, °C — GNDVI와 동일 그리드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RGB (rgb_data/)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4밴드 uint8(RGBA), 별도 그리드 → 자동 재투영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좌표계 / nodata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EPSG:5179 / −10000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파일명 규칙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{필지}_{회차}_{YYMMDD}_{센서}.tif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Rectangle 26"/>
          <p:cNvSpPr/>
          <p:nvPr/>
        </p:nvSpPr>
        <p:spPr>
          <a:xfrm>
            <a:off x="411480" y="5989320"/>
            <a:ext cx="9082735" cy="384048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5989320"/>
            <a:ext cx="88084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2060"/>
                </a:solidFill>
                <a:latin typeface="Malgun Gothic"/>
                <a:ea typeface="맑은 고딕"/>
              </a:rPr>
              <a:t>GNDVI(마스킹 폴백)  +  LWIR(온도)  +  RGB(ExG 마스킹)   →   필지당 CWSI 맵 · GeoTIFF · 요약 CSV 산출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2. 참고논문 8편 방법론 검토 —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UAV 열화상 CWSI 관련 논문 8편의 기준온도·식생분리 방법을 전수 비교 — 재현 가능한 검증 방법만 선별함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389888"/>
          <a:ext cx="9079992" cy="45262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2608"/>
                <a:gridCol w="1737360"/>
                <a:gridCol w="3291840"/>
                <a:gridCol w="2148840"/>
                <a:gridCol w="1609344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#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논문 (작물)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'건조/습윤 기준온도'를 어떻게 정했나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작물·토양을 어떻게 구분했나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채택 여부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Kapari 2025 (옥수수)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기상 회귀식(NWSB) — '물 잘 준 작물'의 온도를 대기 건조도(VPD)로 예측. 시간별 기상자료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구분 안 함 (표본 지점 직접 실측)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로드맵 옵션 (기상 연동 후)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나상일 2020 (봄배추) ★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열영상 속 식생의 최저온도=습윤 기준, 최고온도=건조 기준 — 기상장비 없이 산출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RGB 녹색지수(ExG) + 자동 임계 분류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ExG 식생분리 채택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Shi 2024 (콩)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CWSI 안 씀 — 온도를 0~1로 정규화한 열지수(NRCT 등)로 토양수분을 추정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SW 수동 임계 (방법 미기재)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참고 (융합 우수성)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Liu 2024 (겨울밀) ★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식생 온도의 하위 5%=습윤, 상위 5%=건조 기준 — 극값 노이즈에 강건. 가뭄판별 92.6% 검증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적외선 식생지수(NDVI) + 자동 임계(Otsu)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백분위·ΔT·구조 채택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Ma 2024 (겨울밀)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실물 잎 기준면 — 물 뿌린 잎=습윤, 바셀린 발라 기공 막은 잎=건조. 촬영마다 현장작업 필요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습윤~건조 온도 구간 내 화소만 채택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기각 (자동화 불가)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6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문현동 2022 (콩)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CWSI 안 씀 — 엽온과 색소 지수(MTCI·CCI)의 변화 방향으로 조기탐지를 시도한 예비연구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명시 없음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참고 (조기탐지 아이디어)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Combining UAV (옥수수)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백분위(0.5/99.5) + 증발산 이론식의 일단위 지수 병행 — 촬영시각·노화 오진 등 한계 규명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토양보정 식생지수(SAVI) + 자동 임계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QC·촬영표준 규칙 채택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8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Soybean Flooding (콩)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CWSI 안 씀 — 온도·NDVI 등 5개 특징을 신경망에 넣어 침수 피해 등급 분류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색공간 수동 임계 + 군집화(k-means)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참고 (혼합화소 근거)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11480" y="6035040"/>
            <a:ext cx="9082735" cy="347472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6035040"/>
            <a:ext cx="8808415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★ v2의 두 원전 — #2 나상일(ExG 식생분리) + #4 Liu(5/95 백분위) · CWSI를 직접 다루지 않는 3편(#3·6·8)은 부분 참고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2. 참고논문 8편 방법론 검토 — 채택·기각 사유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v2 = 나상일(ExG) + Liu(5/95 백분위)의 핵심 요소에 Combining UAV의 운영 규칙을 결합한 구성임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212848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채택 ① 나상일 2020 (봄배추)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28216"/>
            <a:ext cx="2212848" cy="4160520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1847088"/>
            <a:ext cx="1993391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방법: RGB 영상의 ExG 지수로 녹색 식생만 골라낸 뒤, 그 식생 화소의 온도만으로 CWSI를 계산 — 기상장비 없이 드론만으로 산출 가능해 우리 파이프라인에 직접 이식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검증①: 물을 준 구역(CWSI 평균 0.25)과 물을 끊은 구역(0.49)이 명확히 구분됨 → 이 지수가 실제 관수 상태를 읽어냄을 입증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검증②: CWSI가 높은 개체일수록 배추 구(결구) 지름이 작음 (상관계수 −0.72) → 스트레스 수치가 실제 생육 피해로 이어짐을 확인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미채택 부분: 기준온도를 최저/최고값으로 잡는 방식은 수억 화소 대면적에선 노이즈에 취약 → 백분위로 대체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02052" y="1417320"/>
            <a:ext cx="2212848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2052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채택 ② Liu 2024 (겨울밀)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2052" y="1728216"/>
            <a:ext cx="2212848" cy="4160520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11780" y="1847088"/>
            <a:ext cx="1993391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방법: 식생지수+Otsu로 토양을 제거한 뒤, 남은 식생 온도의 하위 5%를 Twet, 상위 5%를 Tdry로 사용 — v2가 이 구조를 그대로 채택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검증①: 이 CWSI가 실측 토양수분 변화를 87~90% 설명 (회귀 R² 0.87~0.90) — 지수가 높을수록 실제로 토양이 말라 있음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검증②: 정상~심한 가뭄 4개 등급을 92.6% 정확도로 판별 — 비교 8편 중 실측 검증 성능 최고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ΔT(작물 표면온도−기온) 보조지표 활용법도 이 논문 방식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1417320"/>
            <a:ext cx="2212848" cy="310896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4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규칙 채택 Combining UAV (옥수수)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1728216"/>
            <a:ext cx="2212848" cy="4160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1847088"/>
            <a:ext cx="1993391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한계 규명: 백분위 방식은 장면 안에 '스트레스 작물'과 '정상 작물'이 함께 있어야 유효함을 명시 → 우리 QC의 온도대비 부족 경고(2°C 기준)의 이론적 근거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촬영 시각: 하루 6회 비행 비교에서 14시 데이터의 대표성이 가장 높고, 12·14·16시 3회만으로 하루 전체 스트레스를 재현(R² 0.794) → 12~16시 촬영 표준의 근거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오진 경고: 생육 말기엔 잎 노화로 온도가 올라 수분스트레스로 오진됨 → 노화기 해석 금지 규칙의 근거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83196" y="1417320"/>
            <a:ext cx="2212848" cy="310896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3196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기각·참고 5편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3196" y="1728216"/>
            <a:ext cx="2212848" cy="416052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2923" y="1847088"/>
            <a:ext cx="1993391" cy="3977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Kapari 2025: 기준온도를 기상(VPD) 회귀식으로 산출하는 NWSB 방식 — 시간별 기온·습도와 무스트레스 시기 실측이 필요해 현 데이터로는 불가 → 기상대 연동 후 로드맵 Phase 3에서 도입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Ma 2024: 잎에 물을 뿌리고(습윤 기준) 바셀린을 발라(건조 기준) 실물 기준면을 만드는 방식 — 촬영 때마다 현장 작업이 필요해 자동화·과거 데이터 적용 불가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Shi·문현동·Flooding: CWSI 자체를 다루지 않는 논문들(각각 토양수분 추정, 조기탐지 지수, 침수 피해 분류) — 다중센서 융합의 우수성, 혼합화소의 온도 오염 등 보조 근거로만 참고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035040"/>
            <a:ext cx="9082735" cy="384048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6035040"/>
            <a:ext cx="88084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2060"/>
                </a:solidFill>
                <a:latin typeface="Malgun Gothic"/>
                <a:ea typeface="맑은 고딕"/>
              </a:rPr>
              <a:t>(ExG 식생분리 — 나상일)  +  (5/95 백분위 — Liu)  +  (QC·촬영표준 — Combining)  =  v2 로직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3. 처리 파이프라인 (cwsi_index.py)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영상쌍 자동 매칭부터 CWSI 산출·QC까지 필지당 완전 자동 처리 체계를 구축함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401568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401568" cy="292608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463040"/>
            <a:ext cx="3182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STEP 01  입력 매칭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1847088"/>
            <a:ext cx="3182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GNDVI 기준 LWIR(필수)·RGB(선택) 자동 페어링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011680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F4023"/>
                </a:solidFill>
                <a:latin typeface="Malgun Gothic"/>
                <a:ea typeface="맑은 고딕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7096" y="1463040"/>
            <a:ext cx="3401568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97096" y="1463040"/>
            <a:ext cx="3401568" cy="292608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463040"/>
            <a:ext cx="3182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STEP 02  그리드 정합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1847088"/>
            <a:ext cx="3182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RGB → GNDVI 그리드 재투영, LWIR는 동일 그리드 시 생략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017520"/>
            <a:ext cx="3401568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017520"/>
            <a:ext cx="3401568" cy="292608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" y="3017520"/>
            <a:ext cx="3182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STEP 03  식생 마스킹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401568"/>
            <a:ext cx="3182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정규화 ExG + Otsu 자동 임계 (RGB 없으면 GNDVI 폴백)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566160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F4023"/>
                </a:solidFill>
                <a:latin typeface="Malgun Gothic"/>
                <a:ea typeface="맑은 고딕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97096" y="3017520"/>
            <a:ext cx="3401568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97096" y="3017520"/>
            <a:ext cx="3401568" cy="292608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6824" y="3017520"/>
            <a:ext cx="3182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STEP 04  기준온도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6824" y="3401568"/>
            <a:ext cx="3182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식생 온도 히스토그램 5% = Twet / 95% = Tdry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72000"/>
            <a:ext cx="3401568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572000"/>
            <a:ext cx="3401568" cy="292608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1208" y="4572000"/>
            <a:ext cx="3182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STEP 05  CWSI + QC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" y="4956048"/>
            <a:ext cx="3182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CWSI=(T−Twet)/(Tdry−Twet) · 식생비율/온도대비 경고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5120640"/>
            <a:ext cx="292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F4023"/>
                </a:solidFill>
                <a:latin typeface="Malgun Gothic"/>
                <a:ea typeface="맑은 고딕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7096" y="4572000"/>
            <a:ext cx="3401568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97096" y="4572000"/>
            <a:ext cx="3401568" cy="292608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4" y="4572000"/>
            <a:ext cx="318211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STEP 06  산출물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06824" y="4956048"/>
            <a:ext cx="318211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CWSI PNG · 온도 PNG · GeoTIFF · 요약 CSV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18120" y="1463040"/>
            <a:ext cx="167609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18120" y="1463040"/>
            <a:ext cx="16760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처리 성능 / KPI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1901952"/>
            <a:ext cx="1493215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1" i="0">
                <a:solidFill>
                  <a:srgbClr val="000000"/>
                </a:solidFill>
                <a:latin typeface="Malgun Gothic"/>
                <a:ea typeface="맑은 고딕"/>
              </a:rPr>
              <a:t>처리 성공 83 / 84쌍</a:t>
            </a:r>
          </a:p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1" i="0">
                <a:solidFill>
                  <a:srgbClr val="000000"/>
                </a:solidFill>
                <a:latin typeface="Malgun Gothic"/>
                <a:ea typeface="맑은 고딕"/>
              </a:rPr>
              <a:t>오류 로그 0건</a:t>
            </a:r>
          </a:p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1" i="0">
                <a:solidFill>
                  <a:srgbClr val="000000"/>
                </a:solidFill>
                <a:latin typeface="Malgun Gothic"/>
                <a:ea typeface="맑은 고딕"/>
              </a:rPr>
              <a:t>4워커 병렬 약 1시간</a:t>
            </a:r>
          </a:p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1" i="0">
                <a:solidFill>
                  <a:srgbClr val="000000"/>
                </a:solidFill>
                <a:latin typeface="Malgun Gothic"/>
                <a:ea typeface="맑은 고딕"/>
              </a:rPr>
              <a:t>풀해상도 2cm 처리</a:t>
            </a:r>
          </a:p>
          <a:p>
            <a:pPr algn="l">
              <a:spcAft>
                <a:spcPts val="900"/>
              </a:spcAft>
            </a:pPr>
            <a:r>
              <a:rPr sz="1100" b="1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1" i="0">
                <a:solidFill>
                  <a:srgbClr val="000000"/>
                </a:solidFill>
                <a:latin typeface="Malgun Gothic"/>
                <a:ea typeface="맑은 고딕"/>
              </a:rPr>
              <a:t>ExG 마스킹 82쌍</a:t>
            </a:r>
          </a:p>
          <a:p>
            <a:pPr algn="l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• </a:t>
            </a:r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필지 코드 인자로 부분 재처리 지원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035040"/>
            <a:ext cx="9082735" cy="365760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6035040"/>
            <a:ext cx="88084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02060"/>
                </a:solidFill>
                <a:latin typeface="Malgun Gothic"/>
                <a:ea typeface="맑은 고딕"/>
              </a:rPr>
              <a:t>(입력 3종 자동 매칭)  →  (ExG 식생분리)  →  (백분위 기준온도)  =  운영자 개입 없는 필지 단위 자동 CWSI 산출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4. 로직 개선 ① — ExG 식생 분리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식생분리 지수를 GNDVI에서 ExG로 전환, 노화기 식생 70% 과대분류 문제를 해결함 (오분류 70% → 10%)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9082735" cy="24871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sk_nov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506"/>
            <a:ext cx="8579815" cy="21213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931920"/>
            <a:ext cx="90827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Malgun Gothic"/>
                <a:ea typeface="맑은 고딕"/>
              </a:rPr>
              <a:t>동일 필지(SM01) 수확기(’25.11월) — 좌→우: RGB 실제 모습(전면 갈색 = 녹색 작물 거의 없음) · GNDVI · GNDVI-Otsu 마스크(녹색=식생 판정) · ExG-Otsu 마스크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315968"/>
            <a:ext cx="2971800" cy="196596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4434840"/>
            <a:ext cx="2679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F4023"/>
                </a:solidFill>
                <a:latin typeface="Malgun Gothic"/>
                <a:ea typeface="맑은 고딕"/>
              </a:rPr>
              <a:t>70% →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" y="486460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algun Gothic"/>
                <a:ea typeface="맑은 고딕"/>
              </a:rPr>
              <a:t>노화기 식생 판정 비율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" y="5175504"/>
            <a:ext cx="26791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GNDVI는 갈변 잎·잔사까지 식생으로 판정, ExG는 잔여 녹색만 정확 분리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4315968"/>
            <a:ext cx="2971800" cy="1965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4434840"/>
            <a:ext cx="2679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2060"/>
                </a:solidFill>
                <a:latin typeface="Malgun Gothic"/>
                <a:ea typeface="맑은 고딕"/>
              </a:rPr>
              <a:t>IoU 0.11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86460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algun Gothic"/>
                <a:ea typeface="맑은 고딕"/>
              </a:rPr>
              <a:t>노화기 마스크 일치도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5175504"/>
            <a:ext cx="26791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두 방식이 사실상 서로 다른 영역을 분석 — v1의 11월 CWSI는 토양+잔사 온도였음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9672" y="4315968"/>
            <a:ext cx="2971800" cy="1965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5976" y="4434840"/>
            <a:ext cx="2679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2060"/>
                </a:solidFill>
                <a:latin typeface="Malgun Gothic"/>
                <a:ea typeface="맑은 고딕"/>
              </a:rPr>
              <a:t>IoU 0.84~0.86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5976" y="4864608"/>
            <a:ext cx="26791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Malgun Gothic"/>
                <a:ea typeface="맑은 고딕"/>
              </a:rPr>
              <a:t>최성기(8월) 일치도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6" y="5175504"/>
            <a:ext cx="26791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생육기엔 두 방식 거의 동일 → ExG 전환 리스크 없음. 84쌍 중 82쌍 ExG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5. 로직 개선 ② — 기준온도 5/95 백분위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기준온도를 5/95 백분위로 조정, Tdry 부풀림에 의한 v1의 체계적 CWSI 저평가를 제거함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8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463040"/>
          <a:ext cx="4754880" cy="3794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0" y="1463040"/>
            <a:ext cx="400781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463040"/>
            <a:ext cx="400781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v1 저평가 발생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96128" y="1901952"/>
            <a:ext cx="382493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99.5% 백분위가 극소수 고온 토양·혼합화소를 Tdry로 채택 → 분모 부풀림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기온+5°C 하한이 Tdry 추가 상승 (논문 근거 없는 임의 규칙 → 제거)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9월 SM01: Tdry 30.5°C(v1) vs 24.7°C(v2) — v1의 0.115는 분모 부풀림의 산물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효과 분리: 동일 마스크에 백분위만 교체해도 v2와 동일 → 차이 주원인은 백분위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4892040"/>
            <a:ext cx="4007815" cy="1371600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5029200"/>
            <a:ext cx="37334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채택 근거 (Liu et al. 2024, 겨울밀)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•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토양수분 실측 대비 R² 0.87~0.90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•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가뭄등급 판별 정확도 92.6%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035040"/>
            <a:ext cx="9082735" cy="365760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6035040"/>
            <a:ext cx="880841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02060"/>
                </a:solidFill>
                <a:latin typeface="Malgun Gothic"/>
                <a:ea typeface="맑은 고딕"/>
              </a:rPr>
              <a:t>v2 값 상승 = 스케일 재조정(정상화)이며 상대 비교 유효성은 동일 — 설정으로 v1 방식 복원 가능 (BASELINE_PERCENTILES)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6. 자동 품질검사(QC) 체계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판정 불가 장면을 자동 경고하는 QC 체계를 도입, 전체의 30%(25/83)를 사전 식별함 — v1은 경고 없이 출력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448056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4480560" cy="329184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1463040"/>
            <a:ext cx="4206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algun Gothic"/>
                <a:ea typeface="맑은 고딕"/>
              </a:rPr>
              <a:t>QC 1  온도대비 부족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" y="19202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F4023"/>
                </a:solidFill>
                <a:latin typeface="Courier New"/>
                <a:ea typeface="Courier New"/>
              </a:rPr>
              <a:t>Tdry − Twet &lt; 2°C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" y="2331720"/>
            <a:ext cx="4206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장면이 균일하면 백분위 기준선은 노이즈 확대에 불과 → CWSI 절대값 무의미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요약 CSV qc 열 기록 → 후속 시스템 자동 필터 가능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463040"/>
            <a:ext cx="448056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463040"/>
            <a:ext cx="4480560" cy="329184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57216" y="1463040"/>
            <a:ext cx="4206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algun Gothic"/>
                <a:ea typeface="맑은 고딕"/>
              </a:rPr>
              <a:t>QC 2  식생비율 이상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19202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F4023"/>
                </a:solidFill>
                <a:latin typeface="Courier New"/>
                <a:ea typeface="Courier New"/>
              </a:rPr>
              <a:t>&lt; 2%  또는  &gt; 98%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331720"/>
            <a:ext cx="4206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마스크 실패 또는 파종 직후·수확 후 장면 감지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50" b="0" i="0">
                <a:solidFill>
                  <a:srgbClr val="000000"/>
                </a:solidFill>
                <a:latin typeface="Malgun Gothic"/>
                <a:ea typeface="맑은 고딕"/>
              </a:rPr>
              <a:t>필지 대표 통계 부적합 → 판정 제외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977639"/>
            <a:ext cx="9082735" cy="228600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2286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EF4023"/>
                </a:solidFill>
                <a:latin typeface="Malgun Gothic"/>
                <a:ea typeface="맑은 고딕"/>
              </a:rPr>
              <a:t>27 / 83</a:t>
            </a:r>
          </a:p>
          <a:p>
            <a:pPr algn="l"/>
            <a:r>
              <a:rPr sz="1100" b="1" i="0">
                <a:solidFill>
                  <a:srgbClr val="000000"/>
                </a:solidFill>
                <a:latin typeface="Malgun Gothic"/>
                <a:ea typeface="맑은 고딕"/>
              </a:rPr>
              <a:t>QC 경고 발동 (33%)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06240"/>
            <a:ext cx="63093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1" i="0">
                <a:solidFill>
                  <a:srgbClr val="000000"/>
                </a:solidFill>
                <a:latin typeface="Malgun Gothic"/>
                <a:ea typeface="맑은 고딕"/>
              </a:rPr>
              <a:t>’25.9/22 회차: 12필지 중 11필지 경고 — 작물 온도가 필지 전체에서 균일해져 회차 전체 판정 보류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0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0" i="0">
                <a:solidFill>
                  <a:srgbClr val="000000"/>
                </a:solidFill>
                <a:latin typeface="Malgun Gothic"/>
                <a:ea typeface="맑은 고딕"/>
              </a:rPr>
              <a:t>’26.7/7 회차 5건, 8월 회차 2~5건 — 필지 단위 선별 차단</a:t>
            </a:r>
          </a:p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1100" b="1" i="0">
                <a:solidFill>
                  <a:srgbClr val="002060"/>
                </a:solidFill>
                <a:latin typeface="Malgun Gothic"/>
                <a:ea typeface="맑은 고딕"/>
              </a:rPr>
              <a:t>v1이었다면 경고 없이 서비스에 유출되었을 데이터 — 상용 신뢰성의 핵심 안전장치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7. 전체 84쌍 처리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83/84쌍 처리 성공(1건 원본 손상) — 8월 회차가 판정 적합, 스트레스 상위 SM21·SM23 현장 확인 필요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11480" y="1463040"/>
          <a:ext cx="4846320" cy="3794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34924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000" b="1" i="0">
                <a:solidFill>
                  <a:srgbClr val="000000"/>
                </a:solidFill>
                <a:latin typeface="Malgun Gothic"/>
                <a:ea typeface="맑은 고딕"/>
              </a:rPr>
              <a:t>회차별 평균 CWSI (83쌍)</a:t>
            </a:r>
          </a:p>
          <a:p>
            <a:pPr algn="ctr"/>
            <a:r>
              <a:rPr sz="900" b="0" i="0">
                <a:solidFill>
                  <a:srgbClr val="595959"/>
                </a:solidFill>
                <a:latin typeface="Malgun Gothic"/>
                <a:ea typeface="맑은 고딕"/>
              </a:rPr>
              <a:t>QC 경고: 8/18→2 · 9/22→11 · 11/12→2 · 7/7→5 · 7/15→2 · 8/14→5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463040"/>
            <a:ext cx="391637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463040"/>
            <a:ext cx="391637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회차 판정 및 조치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920240"/>
            <a:ext cx="3916375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1920240"/>
            <a:ext cx="566928" cy="9692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920240"/>
            <a:ext cx="566928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맑은 고딕"/>
              </a:rPr>
              <a:t>적합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93392"/>
            <a:ext cx="31391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8월 회차(’25·’26) — 기준선 폭 3~5°C, 필지 간 편차 뚜렷 → 판정 사용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2999232"/>
            <a:ext cx="3916375" cy="969264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77840" y="2999232"/>
            <a:ext cx="566928" cy="969264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2999232"/>
            <a:ext cx="566928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맑은 고딕"/>
              </a:rPr>
              <a:t>보류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72384"/>
            <a:ext cx="31391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9/22(QC 11필지) · 11/12(노화기) · 7/15(식생 3.4%) → 판정 제외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4078224"/>
            <a:ext cx="3916375" cy="969264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4078224"/>
            <a:ext cx="566928" cy="969264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4078224"/>
            <a:ext cx="566928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맑은 고딕"/>
              </a:rPr>
              <a:t>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151376"/>
            <a:ext cx="31391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SM21(0.637, 스트레스 화소 76%) · SM23(0.588) — QC 무경고 → 현장 조사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5157216"/>
            <a:ext cx="3916375" cy="96926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577840" y="5157216"/>
            <a:ext cx="566928" cy="96926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5157216"/>
            <a:ext cx="566928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lgun Gothic"/>
                <a:ea typeface="맑은 고딕"/>
              </a:rPr>
              <a:t>양호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230368"/>
            <a:ext cx="31391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SM01·SM04·SM12 (’25.8월, CWSI 0.28~0.31)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8. 결과 맵 비교 (v1 vs v2)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v2는 토양 두둑·혼합화소를 제외하고 실제 작물 표면만 분석 — 공간 패턴 유지, 오염 제거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3794760" cy="45445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1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00793"/>
            <a:ext cx="3520440" cy="317645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60120" y="55961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595959"/>
                </a:solidFill>
                <a:latin typeface="Malgun Gothic"/>
                <a:ea typeface="맑은 고딕"/>
              </a:rPr>
              <a:t>v1 — GNDVI 마스크 + 0.5/99.5 (Tdry 44.9°C)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463040"/>
            <a:ext cx="3794760" cy="454456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v2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000793"/>
            <a:ext cx="3520440" cy="31764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5596128"/>
            <a:ext cx="3520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02060"/>
                </a:solidFill>
                <a:latin typeface="Malgun Gothic"/>
                <a:ea typeface="맑은 고딕"/>
              </a:rPr>
              <a:t>v2 — ExG 마스크 + 5/95 (Tdry 38.7°C)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337560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EF4023"/>
                </a:solidFill>
                <a:latin typeface="Malgun Gothic"/>
                <a:ea typeface="맑은 고딕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989320"/>
            <a:ext cx="8503920" cy="384048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989320"/>
            <a:ext cx="8229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SM01 필지, ’25.8.18 동일 촬영 — 흰색(제외) 확대 = 토양·혼합화소 제거, 색 스케일 차이 = 기준온도 현실화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9. 상용 활용성 판정 및 운영 표준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‘필지 내 상대 진단·구역 탐지’는 상용 투입 가능 — 절대값 처방은 실측 캘리브레이션 1시즌 후 가능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971800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971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즉시 활용 가능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28216"/>
            <a:ext cx="297180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847088"/>
            <a:ext cx="271576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필지 내 스트레스 공간분포 스크리닝 (관개·배수 불량 구역)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현장 조사 우선순위(스카우팅) 결정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회차 간 상대 모니터링 · GIS/관제 연계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65576" y="1417320"/>
            <a:ext cx="2971800" cy="310896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1417320"/>
            <a:ext cx="2971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검증 후 가능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1728216"/>
            <a:ext cx="297180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1847088"/>
            <a:ext cx="271576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절대값 기반 관개 의사결정 — 논콩 임계값 캘리브레이션 필요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필지 간·날짜 간 절대 비교 — NWSB(기상 연동) 도입 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9672" y="1417320"/>
            <a:ext cx="2971800" cy="310896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417320"/>
            <a:ext cx="2971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사용 제외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9672" y="1728216"/>
            <a:ext cx="2971800" cy="187451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1847088"/>
            <a:ext cx="2715768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노화기(9월 하순~) 수분스트레스 해석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QC 경고 장면 절대값 판정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950" b="0" i="0">
                <a:solidFill>
                  <a:srgbClr val="EF4023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흐린 날·이른 오전 촬영분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94760"/>
            <a:ext cx="908273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794760"/>
            <a:ext cx="908273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운영 표준 — 이 조건을 지켜야 결과가 유효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11480" y="4105656"/>
          <a:ext cx="9079991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57200"/>
                <a:gridCol w="1417320"/>
                <a:gridCol w="3383280"/>
                <a:gridCol w="3822191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No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항목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기준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근거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촬영 생육시기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개화~등숙기 (8월 초~9월 초)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8월 회차만 기준선 폭 3~5°C로 적합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촬영 시각·기상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맑은 날 12:00~16:00 (14시 최적)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14시 중요도 0.42 최대 (Combining UAV)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QC 게이트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qc 열 경고 시 '판정 보류' 처리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미적용 시 무의미한 값 서비스 유출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노화기 처리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9월 하순 이후 해석 금지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노화 온도 상승을 스트레스로 오진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데이터 요건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노화기 분석 시 RGB 필수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GNDVI 폴백은 노화기 신뢰 불가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10. 전달 코드 구성 — 함수 맵 (cwsi_index.py)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전달 코드는 단일 파일 약 400줄 — 파이프라인 6단계가 함수 단위로 1:1 분리되어 있어 모듈 이식·수정이 용이함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65176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코드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28216"/>
            <a:ext cx="2651760" cy="3108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847088"/>
            <a:ext cx="239572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50" b="1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1" i="0">
                <a:solidFill>
                  <a:srgbClr val="000000"/>
                </a:solidFill>
                <a:latin typeface="Malgun Gothic"/>
                <a:ea typeface="맑은 고딕"/>
              </a:rPr>
              <a:t>단일 파일 cwsi_index.py (~400줄)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의존성: rasterio · scikit-image · numpy · pandas · matplotlib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설정 상수는 파일 상단 집중 배치 — 코드 수정 없이 동작 변경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필지 단위 독립 처리 → 병렬·부분 재처리 자유</a:t>
            </a:r>
          </a:p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예외는 쌍 단위 격리 — 1개 실패해도 배치 지속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417320"/>
            <a:ext cx="624809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417320"/>
            <a:ext cx="62480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함수 → 파이프라인 단계 매핑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46120" y="1728216"/>
          <a:ext cx="6245352" cy="43434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48840"/>
                <a:gridCol w="685800"/>
                <a:gridCol w="3410712"/>
              </a:tblGrid>
              <a:tr h="434340"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함수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단계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역할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load_temp_data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-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temp_data.csv → {날짜: 기온} 로드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find_processing_pairs / find_rgb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STEP 01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GNDVI 기준 LWIR(필수)·RGB(선택) 자동 매칭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read_and_resample_lwir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STEP 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LWIR 로드 — 동일 그리드면 그대로, 아니면 bilinear 재투영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compute_exg_on_grid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STEP 02·03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RGB를 기준 그리드로 재투영하며 ExG 계산 (밴드 단위 누적)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auto_threshold / build_vegetation_mask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STEP 03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Otsu·Jenks 자동 임계 → 식생 마스크 (RGB 없으면 GNDVI 폴백)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calculate_cwsi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STEP 04·05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5/95 백분위 Twet/Tdry → CWSI 맵 + 통계 + QC 판정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save_cwsi_map / save_lwir_map / save_cwsi_geotiff / append_summary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STEP 06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PNG 2종 · GeoTIFF · 요약 CSV 저장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process_pair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전체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필지 1쌍 오케스트레이터 (위 함수 순차 호출)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__main__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-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쌍 탐색·정렬·코드 필터(병렬 분할)·루프 실행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11. 코드 로직 상세 ① — ExG 식생 마스킹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RGB를 밴드 단위로 누적 재투영하여 대용량(22k×22k)에서도 메모리 안정적으로 ExG를 산출함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489204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compute_exg_on_grid + build_vegetation_mask (요약)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28216"/>
            <a:ext cx="4892040" cy="3246120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6177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9BB4A0"/>
                </a:solidFill>
                <a:latin typeface="Courier New"/>
                <a:ea typeface="Courier New"/>
              </a:rPr>
              <a:t># 밴드별 재투영-누적 (R,G,B 한 장씩)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S = 0;  N = 0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for band, coef in [(R,-1), (G,+2), (B,-1)]: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    b = reproject(band, GNDVI_grid, average)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    S += b;  N += coef * b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ExG = N / S        # = (2G-R-B)/(R+G+B)</a:t>
            </a:r>
          </a:p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ExG[alpha &lt; 128] = NaN   # 유효영역 마스크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9BB4A0"/>
                </a:solidFill>
                <a:latin typeface="Courier New"/>
                <a:ea typeface="Courier New"/>
              </a:rPr>
              <a:t># 자동 임계 → 식생 마스크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thr  = otsu(ExG[valid])  # 또는 jenks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mask = valid &amp; (ExG &gt; thr)</a:t>
            </a:r>
          </a:p>
          <a:p>
            <a:pPr algn="l"/>
            <a:r>
              <a:rPr sz="900" b="0" i="0">
                <a:solidFill>
                  <a:srgbClr val="9BB4A0"/>
                </a:solidFill>
                <a:latin typeface="Courier New"/>
                <a:ea typeface="Courier New"/>
              </a:rPr>
              <a:t># RGB 없음/실패 → GNDVI로 동일 절차 폴백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417320"/>
            <a:ext cx="396209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417320"/>
            <a:ext cx="39620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설계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1828800"/>
            <a:ext cx="3779215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정규화 ExG = (2G−R−B)/(R+G+B) — 논문(나상일 2020)의 정규화 색좌표 2g−r−b와 수학적으로 동일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밴드 3장을 동시에 올리지 않고 합(S)·가중합(N) 2개 배열만 유지 → 풀해상도에서 메모리 약 40% 절감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RGB 4번째 밴드(alpha)로 촬영 외곽 무효영역 제거 — 경계부 오염 방지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Otsu = 급간분산 최대화 자동 임계 (Liu 2024 방식) · Jenks 옵션은 1D k-means 자연분류로 구현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임계 산출 실패 시 안전 기본값(ExG 0.05 / GNDVI 0.3)으로 폴백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166360"/>
            <a:ext cx="9082735" cy="384048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5166360"/>
            <a:ext cx="88084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(RGB 재투영)  +  (ExG 계산)  +  (Otsu 임계)  =  노화기까지 안정적인 작물 전용 마스크  →  STEP 04 기준온도로 전달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12. 코드 로직 상세 ② — 기준온도·CWSI·QC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식생 화소 온도 분포만으로 기준온도를 정해 기상 실측 없이 CWSI를 산출하고, 판정 불가 조건을 함께 기록함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489204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4892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calculate_cwsi (요약)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28216"/>
            <a:ext cx="4892040" cy="3246120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6177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temps = LWIR[mask &amp; ~isnan(LWIR)]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Twet = percentile(temps, 5)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Tdry = percentile(temps, 95)</a:t>
            </a:r>
          </a:p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9BB4A0"/>
                </a:solidFill>
                <a:latin typeface="Courier New"/>
                <a:ea typeface="Courier New"/>
              </a:rPr>
              <a:t># (옵션) Tdry = max(Tdry, Tair+5)  # v1 호환</a:t>
            </a:r>
          </a:p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CWSI = clip((LWIR - Twet)/(Tdry - Twet), 0, 1)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9BB4A0"/>
                </a:solidFill>
                <a:latin typeface="Courier New"/>
                <a:ea typeface="Courier New"/>
              </a:rPr>
              <a:t># QC 판정 (값은 바꾸지 않고 경고만 기록)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if Tdry - Twet &lt; 2.0: qc += 'baseline_range'</a:t>
            </a:r>
          </a:p>
          <a:p>
            <a:pPr algn="l">
              <a:spcAft>
                <a:spcPts val="800"/>
              </a:spcAft>
            </a:pPr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if veg_frac &lt; 0.02 or &gt; 0.98: qc += 'veg_ratio'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9BB4A0"/>
                </a:solidFill>
                <a:latin typeface="Courier New"/>
                <a:ea typeface="Courier New"/>
              </a:rPr>
              <a:t># 통계 산출 → cwsi_summary.csv 1행 기록</a:t>
            </a:r>
          </a:p>
          <a:p>
            <a:pPr algn="l"/>
            <a:r>
              <a:rPr sz="900" b="0" i="0">
                <a:solidFill>
                  <a:srgbClr val="E9EEF2"/>
                </a:solidFill>
                <a:latin typeface="Courier New"/>
                <a:ea typeface="Courier New"/>
              </a:rPr>
              <a:t>mean/median/p90 · frac(CWSI&gt;0.5) · dT=Tc-Tair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417320"/>
            <a:ext cx="396209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417320"/>
            <a:ext cx="39620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설계 포인트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1828800"/>
            <a:ext cx="3779215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백분위(5/95)는 '이 필지에서 가장 시원한/뜨거운 작물'의 강건한 추정 — 극값 노이즈에 안전 (Liu 2024 검증)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기상자료 불필요 — 열영상+마스크만으로 필지 독립 산출. 기온은 ΔT(작물 표면온도−기온: 잎이 공기보다 얼마나 시원한지 = 증산 활동) 보조지표에만 사용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QC는 산출을 막지 않고 qc 열에 기록 — 서비스단에서 게이트 정책 자유 구현</a:t>
            </a:r>
          </a:p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설정 상수(BASELINE_PERCENTILES, TDRY_AIRTEMP_FLOOR)로 v1 방식 즉시 복원 가능 — A/B 비교 용이</a:t>
            </a:r>
          </a:p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GeoTIFF는 GNDVI와 동일 그리드(EPSG:5179)로 저장 — GIS 중첩 시 재정렬 불필요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166360"/>
            <a:ext cx="9082735" cy="384048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5166360"/>
            <a:ext cx="880841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(식생 온도 분포)  →  (5/95 백분위 기준온도)  →  (CWSI 0~1 맵 + QC 플래그)  =  기상 인프라 없이 운영 가능한 산출 체계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13. 개발 통합 정보 (인수 스펙)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GeoTIFF + 요약 CSV만으로 관제 대시보드·처방 모듈과 직접 연동 가능한 산출 체계를 제공함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4480560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4480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입력 폴더 규약 / 실행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28216"/>
            <a:ext cx="4480560" cy="1481328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206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E9EEF2"/>
                </a:solidFill>
                <a:latin typeface="Courier New"/>
                <a:ea typeface="Courier New"/>
              </a:rPr>
              <a:t>index_data/    {필지}_{회차}_{YYMMDD}_GNDVI.tif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E9EEF2"/>
                </a:solidFill>
                <a:latin typeface="Courier New"/>
                <a:ea typeface="Courier New"/>
              </a:rPr>
              <a:t>thermal_data/  {필지}_{회차}_{YYMMDD}_LWIR.tif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E9EEF2"/>
                </a:solidFill>
                <a:latin typeface="Courier New"/>
                <a:ea typeface="Courier New"/>
              </a:rPr>
              <a:t>rgb_data/      {필지}_{회차}_{YYMMDD}_RGB.tif</a:t>
            </a:r>
          </a:p>
          <a:p>
            <a:pPr algn="l"/>
            <a:r>
              <a:rPr sz="850" b="0" i="0">
                <a:solidFill>
                  <a:srgbClr val="E9EEF2"/>
                </a:solidFill>
                <a:latin typeface="Courier New"/>
                <a:ea typeface="Courier New"/>
              </a:rPr>
              <a:t>temp_data.csv  date(YYMMDD), temperature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291840"/>
            <a:ext cx="4480560" cy="1188720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392424"/>
            <a:ext cx="4206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E9EEF2"/>
                </a:solidFill>
                <a:latin typeface="Courier New"/>
                <a:ea typeface="Courier New"/>
              </a:rPr>
              <a:t>python cwsi_index.py            # 전체 처리</a:t>
            </a:r>
          </a:p>
          <a:p>
            <a:pPr algn="l">
              <a:spcAft>
                <a:spcPts val="300"/>
              </a:spcAft>
            </a:pPr>
            <a:r>
              <a:rPr sz="850" b="0" i="0">
                <a:solidFill>
                  <a:srgbClr val="E9EEF2"/>
                </a:solidFill>
                <a:latin typeface="Courier New"/>
                <a:ea typeface="Courier New"/>
              </a:rPr>
              <a:t>python cwsi_index.py SM16 SM18  # 부분 재처리</a:t>
            </a:r>
          </a:p>
          <a:p>
            <a:pPr algn="l"/>
            <a:r>
              <a:rPr sz="850" b="0" i="0">
                <a:solidFill>
                  <a:srgbClr val="E9EEF2"/>
                </a:solidFill>
                <a:latin typeface="Courier New"/>
                <a:ea typeface="Courier New"/>
              </a:rPr>
              <a:t>CWSI_PART=p1 python cwsi_index.py SM01..  # 병렬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7200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환경: Python 3.12 · rasterio 1.4.3 · scikit-image · pandas</a:t>
            </a:r>
          </a:p>
          <a:p>
            <a:pPr algn="l"/>
            <a:r>
              <a:rPr sz="9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950" b="0" i="0">
                <a:solidFill>
                  <a:srgbClr val="000000"/>
                </a:solidFill>
                <a:latin typeface="Malgun Gothic"/>
                <a:ea typeface="맑은 고딕"/>
              </a:rPr>
              <a:t>단일 파일(약 400줄), 함수 단위 분리 — 모듈 이식 용이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1417320"/>
            <a:ext cx="437357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437357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핵심 설정 파라미터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120640" y="1728216"/>
          <a:ext cx="4370832" cy="20299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1640"/>
                <a:gridCol w="685800"/>
                <a:gridCol w="1993392"/>
              </a:tblGrid>
              <a:tr h="338328"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설정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기본값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 i="0">
                          <a:solidFill>
                            <a:srgbClr val="FFFFFF"/>
                          </a:solidFill>
                          <a:latin typeface="Malgun Gothic"/>
                          <a:ea typeface="맑은 고딕"/>
                        </a:rPr>
                        <a:t>설명</a:t>
                      </a:r>
                    </a:p>
                  </a:txBody>
                  <a:tcPr marL="64008" marR="64008" marT="18288" marB="18288" anchor="ctr">
                    <a:solidFill>
                      <a:srgbClr val="000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MASK_METHOD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auto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RGB 있으면 ExG, 없으면 GNDVI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THRESH_ALGO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otsu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otsu | jenks(자연분류)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BASELINE_PERCENTILES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(5,95)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(0.5,99.5)=v1 호환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TDRY_AIRTEMP_FLOOR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False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True 시 v1 기온하한 복원</a:t>
                      </a:r>
                    </a:p>
                  </a:txBody>
                  <a:tcPr marL="64008" marR="64008" marT="18288" marB="18288" anchor="ctr"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SAVE_GEOTIFF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True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 i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GeoTIFF 저장 (EPSG:5179)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120640" y="3886200"/>
            <a:ext cx="4373575" cy="31089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886200"/>
            <a:ext cx="437357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Malgun Gothic"/>
                <a:ea typeface="맑은 고딕"/>
              </a:rPr>
              <a:t>요약 CSV 주요 열 (cwsi_summary.csv)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4279392"/>
            <a:ext cx="4190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00000"/>
                </a:solidFill>
                <a:latin typeface="Courier New"/>
                <a:ea typeface="Courier New"/>
              </a:rPr>
              <a:t>tag · mask_method · threshold · veg_fraction · t_wet · t_dry · canopy_temp_mean · delta_t · cwsi_mean/median/p90 · frac_gt_05 · qc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349240"/>
            <a:ext cx="9082735" cy="713232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5431536"/>
            <a:ext cx="875355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2060"/>
                </a:solidFill>
                <a:latin typeface="Malgun Gothic"/>
                <a:ea typeface="맑은 고딕"/>
              </a:rPr>
              <a:t>연동 포인트</a:t>
            </a:r>
          </a:p>
          <a:p>
            <a:pPr algn="l"/>
            <a:r>
              <a:rPr sz="1000" b="0" i="0">
                <a:solidFill>
                  <a:srgbClr val="000000"/>
                </a:solidFill>
                <a:latin typeface="Malgun Gothic"/>
                <a:ea typeface="맑은 고딕"/>
              </a:rPr>
              <a:t>GeoTIFF(구역도) → GIS/관제 오버레이  ·  CSV(필지 통계+QC 플래그) → 대시보드/처방 모듈 입력  ·  qc 열 → 자동 게이트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163056"/>
            <a:ext cx="908273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F4023"/>
                </a:solidFill>
                <a:latin typeface="Malgun Gothic"/>
                <a:ea typeface="맑은 고딕"/>
              </a:rPr>
              <a:t>※ 인수 시 확인: 원본 손상 2건(SM16_02_260814_LWIR · SM18_02_260814_RGB) 재확보 후 SM16·SM18 단독 재처리 요망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37744"/>
            <a:ext cx="908273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Malgun Gothic"/>
                <a:ea typeface="맑은 고딕"/>
              </a:rPr>
              <a:t>14. 플랫폼 연동 및 고도화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640080"/>
            <a:ext cx="9082735" cy="25603"/>
          </a:xfrm>
          <a:prstGeom prst="rect">
            <a:avLst/>
          </a:prstGeom>
          <a:solidFill>
            <a:srgbClr val="EF40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49808"/>
            <a:ext cx="908273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00000"/>
                </a:solidFill>
                <a:latin typeface="Malgun Gothic"/>
                <a:ea typeface="맑은 고딕"/>
              </a:rPr>
              <a:t>현재는 기상 데이터 없이 플랫폼 연동으로 서비스 개시 — 중기 캘리브레이션으로 절대 판정까지 단계 확장함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519672"/>
            <a:ext cx="969264" cy="182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19895" y="6510528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Malgun Gothic"/>
                <a:ea typeface="맑은 고딕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2212848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PHASE 01  연동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28216"/>
            <a:ext cx="2212848" cy="274320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28216"/>
            <a:ext cx="22128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’26.9~ (현재)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002536"/>
            <a:ext cx="2212848" cy="3063240"/>
          </a:xfrm>
          <a:prstGeom prst="rect">
            <a:avLst/>
          </a:prstGeom>
          <a:solidFill>
            <a:srgbClr val="E9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121408"/>
            <a:ext cx="1993391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GeoTIFF·요약 CSV 플랫폼 연동 (지도 오버레이·필지 대시보드)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QC 게이트: qc 경고 시 '판정 보류' 정책 탑재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손상 2건 재처리 · 촬영시각 기록 체계 시작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5065776"/>
            <a:ext cx="2212848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65776"/>
            <a:ext cx="20299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002060"/>
                </a:solidFill>
                <a:latin typeface="Malgun Gothic"/>
                <a:ea typeface="맑은 고딕"/>
              </a:rPr>
              <a:t>서비스: 필지 내 상대 진단·구역 탐지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08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F4023"/>
                </a:solidFill>
                <a:latin typeface="Malgun Gothic"/>
                <a:ea typeface="맑은 고딕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02052" y="1417320"/>
            <a:ext cx="2212848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2052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PHASE 02  기상 연동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02052" y="1728216"/>
            <a:ext cx="2212848" cy="274320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2052" y="1728216"/>
            <a:ext cx="22128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’27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02052" y="2002536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11780" y="2121408"/>
            <a:ext cx="1993391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새만금 간이기상대 연결 (시간별 기온·습도·강수·풍속·일사·ET)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촬영시각 매칭 ΔT 정밀화 · VPD 모듈 탑재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일사량 기반 청천 자동 QC (low_solar)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2052" y="5065776"/>
            <a:ext cx="2212848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93492" y="5065776"/>
            <a:ext cx="20299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002060"/>
                </a:solidFill>
                <a:latin typeface="Malgun Gothic"/>
                <a:ea typeface="맑은 고딕"/>
              </a:rPr>
              <a:t>서비스: 동일 범위, 신뢰도 향상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6612" y="3108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F4023"/>
                </a:solidFill>
                <a:latin typeface="Malgun Gothic"/>
                <a:ea typeface="맑은 고딕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2624" y="1417320"/>
            <a:ext cx="2212848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92624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PHASE 03  절대화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92624" y="1728216"/>
            <a:ext cx="2212848" cy="274320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92624" y="1728216"/>
            <a:ext cx="22128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’27 시즌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92624" y="2002536"/>
            <a:ext cx="2212848" cy="306324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2352" y="2121408"/>
            <a:ext cx="1993391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NWSB 캠페인: 관수 직후 맑은 날 10~16시 4~6회 비행 → ΔT-VPD 회귀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백분위 방식과 병행 운영(A/B) → 전환 타당성 검증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BASELINE_MODE=nwsb 구현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92624" y="5065776"/>
            <a:ext cx="2212848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4064" y="5065776"/>
            <a:ext cx="20299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002060"/>
                </a:solidFill>
                <a:latin typeface="Malgun Gothic"/>
                <a:ea typeface="맑은 고딕"/>
              </a:rPr>
              <a:t>서비스: 필지 간·날짜 간 절대 비교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310896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EF4023"/>
                </a:solidFill>
                <a:latin typeface="Malgun Gothic"/>
                <a:ea typeface="맑은 고딕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83196" y="1417320"/>
            <a:ext cx="2212848" cy="31089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3196" y="1417320"/>
            <a:ext cx="22128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Malgun Gothic"/>
                <a:ea typeface="맑은 고딕"/>
              </a:rPr>
              <a:t>PHASE 04  로직 확장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83196" y="1728216"/>
            <a:ext cx="2212848" cy="274320"/>
          </a:xfrm>
          <a:prstGeom prst="rect">
            <a:avLst/>
          </a:prstGeom>
          <a:solidFill>
            <a:srgbClr val="2E3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83196" y="1728216"/>
            <a:ext cx="221284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algun Gothic"/>
                <a:ea typeface="맑은 고딕"/>
              </a:rPr>
              <a:t>’28~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83196" y="2002536"/>
            <a:ext cx="221284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92923" y="2121408"/>
            <a:ext cx="1993391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NWSB 계수의 지역·품종 이식성 검증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풍속·일사·ET 활용 일단위 CWSI 검토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850" b="0" i="0">
                <a:solidFill>
                  <a:srgbClr val="002060"/>
                </a:solidFill>
                <a:latin typeface="Malgun Gothic"/>
                <a:ea typeface="맑은 고딕"/>
              </a:rPr>
              <a:t>■ </a:t>
            </a:r>
            <a:r>
              <a:rPr sz="850" b="0" i="0">
                <a:solidFill>
                  <a:srgbClr val="000000"/>
                </a:solidFill>
                <a:latin typeface="Malgun Gothic"/>
                <a:ea typeface="맑은 고딕"/>
              </a:rPr>
              <a:t>결주 분석과 공간 결합 → 원인 진단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3196" y="5065776"/>
            <a:ext cx="2212848" cy="566928"/>
          </a:xfrm>
          <a:prstGeom prst="rect">
            <a:avLst/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74636" y="5065776"/>
            <a:ext cx="202996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002060"/>
                </a:solidFill>
                <a:latin typeface="Malgun Gothic"/>
                <a:ea typeface="맑은 고딕"/>
              </a:rPr>
              <a:t>서비스: 일단위 지수·통합 진단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806440"/>
            <a:ext cx="9082735" cy="566928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6072" y="5806440"/>
            <a:ext cx="8753551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000000"/>
                </a:solidFill>
                <a:latin typeface="Malgun Gothic"/>
                <a:ea typeface="맑은 고딕"/>
              </a:rPr>
              <a:t>의사결정 포인트:  ① QC 게이트 정책 — 숨김보다 '보류 표시' 권장   ② Phase 3 일정 — NWSB 캠페인 비행 2일 (개화기·등숙기 각 1일, 강우/관수 직후 맑은 날)   ③ 촬영 표준 준수 — 맑은 날 12~16시 (미준수 시 보정 불가)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